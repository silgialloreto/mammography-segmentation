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8" r:id="rId5"/>
    <p:sldId id="259" r:id="rId6"/>
    <p:sldId id="262"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84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customXml" Target="../customXml/item3.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smtClean="0"/>
              <a:t>Fare clic per modificare lo stile del titolo</a:t>
            </a:r>
            <a:endParaRPr lang="en-GB"/>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smtClean="0"/>
              <a:t>Fare clic per modificare lo stile del sottotitolo dello schema</a:t>
            </a:r>
            <a:endParaRPr lang="en-GB"/>
          </a:p>
        </p:txBody>
      </p:sp>
      <p:sp>
        <p:nvSpPr>
          <p:cNvPr id="4" name="Segnaposto data 3"/>
          <p:cNvSpPr>
            <a:spLocks noGrp="1"/>
          </p:cNvSpPr>
          <p:nvPr>
            <p:ph type="dt" sz="half" idx="10"/>
          </p:nvPr>
        </p:nvSpPr>
        <p:spPr/>
        <p:txBody>
          <a:bodyPr/>
          <a:lstStyle/>
          <a:p>
            <a:fld id="{58D534B4-FB9E-4DDA-B72B-2F7522698E1E}" type="datetimeFigureOut">
              <a:rPr lang="en-GB" smtClean="0"/>
              <a:t>08/12/2024</a:t>
            </a:fld>
            <a:endParaRPr lang="en-GB"/>
          </a:p>
        </p:txBody>
      </p:sp>
      <p:sp>
        <p:nvSpPr>
          <p:cNvPr id="5" name="Segnaposto piè di pagina 4"/>
          <p:cNvSpPr>
            <a:spLocks noGrp="1"/>
          </p:cNvSpPr>
          <p:nvPr>
            <p:ph type="ftr" sz="quarter" idx="11"/>
          </p:nvPr>
        </p:nvSpPr>
        <p:spPr/>
        <p:txBody>
          <a:bodyPr/>
          <a:lstStyle/>
          <a:p>
            <a:endParaRPr lang="en-GB"/>
          </a:p>
        </p:txBody>
      </p:sp>
      <p:sp>
        <p:nvSpPr>
          <p:cNvPr id="6" name="Segnaposto numero diapositiva 5"/>
          <p:cNvSpPr>
            <a:spLocks noGrp="1"/>
          </p:cNvSpPr>
          <p:nvPr>
            <p:ph type="sldNum" sz="quarter" idx="12"/>
          </p:nvPr>
        </p:nvSpPr>
        <p:spPr/>
        <p:txBody>
          <a:bodyPr/>
          <a:lstStyle/>
          <a:p>
            <a:fld id="{3347C5DC-B96D-4131-A2A5-60099509F883}" type="slidenum">
              <a:rPr lang="en-GB" smtClean="0"/>
              <a:t>‹N›</a:t>
            </a:fld>
            <a:endParaRPr lang="en-GB"/>
          </a:p>
        </p:txBody>
      </p:sp>
    </p:spTree>
    <p:extLst>
      <p:ext uri="{BB962C8B-B14F-4D97-AF65-F5344CB8AC3E}">
        <p14:creationId xmlns:p14="http://schemas.microsoft.com/office/powerpoint/2010/main" val="2015187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contenuto 2"/>
          <p:cNvSpPr>
            <a:spLocks noGrp="1"/>
          </p:cNvSpPr>
          <p:nvPr>
            <p:ph idx="1"/>
          </p:nvPr>
        </p:nvSpPr>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10"/>
          </p:nvPr>
        </p:nvSpPr>
        <p:spPr/>
        <p:txBody>
          <a:bodyPr/>
          <a:lstStyle/>
          <a:p>
            <a:fld id="{58D534B4-FB9E-4DDA-B72B-2F7522698E1E}" type="datetimeFigureOut">
              <a:rPr lang="en-GB" smtClean="0"/>
              <a:t>08/12/2024</a:t>
            </a:fld>
            <a:endParaRPr lang="en-GB"/>
          </a:p>
        </p:txBody>
      </p:sp>
      <p:sp>
        <p:nvSpPr>
          <p:cNvPr id="5" name="Segnaposto piè di pagina 4"/>
          <p:cNvSpPr>
            <a:spLocks noGrp="1"/>
          </p:cNvSpPr>
          <p:nvPr>
            <p:ph type="ftr" sz="quarter" idx="11"/>
          </p:nvPr>
        </p:nvSpPr>
        <p:spPr/>
        <p:txBody>
          <a:bodyPr/>
          <a:lstStyle/>
          <a:p>
            <a:endParaRPr lang="en-GB"/>
          </a:p>
        </p:txBody>
      </p:sp>
      <p:sp>
        <p:nvSpPr>
          <p:cNvPr id="6" name="Segnaposto numero diapositiva 5"/>
          <p:cNvSpPr>
            <a:spLocks noGrp="1"/>
          </p:cNvSpPr>
          <p:nvPr>
            <p:ph type="sldNum" sz="quarter" idx="12"/>
          </p:nvPr>
        </p:nvSpPr>
        <p:spPr/>
        <p:txBody>
          <a:bodyPr/>
          <a:lstStyle/>
          <a:p>
            <a:fld id="{3347C5DC-B96D-4131-A2A5-60099509F883}" type="slidenum">
              <a:rPr lang="en-GB" smtClean="0"/>
              <a:t>‹N›</a:t>
            </a:fld>
            <a:endParaRPr lang="en-GB"/>
          </a:p>
        </p:txBody>
      </p:sp>
    </p:spTree>
    <p:extLst>
      <p:ext uri="{BB962C8B-B14F-4D97-AF65-F5344CB8AC3E}">
        <p14:creationId xmlns:p14="http://schemas.microsoft.com/office/powerpoint/2010/main" val="3491462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smtClean="0"/>
              <a:t>Fare clic per modificare lo stile del titolo</a:t>
            </a:r>
            <a:endParaRPr lang="en-GB"/>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smtClean="0"/>
              <a:t>Modifica gli stili del testo dello schema</a:t>
            </a:r>
          </a:p>
        </p:txBody>
      </p:sp>
      <p:sp>
        <p:nvSpPr>
          <p:cNvPr id="4" name="Segnaposto data 3"/>
          <p:cNvSpPr>
            <a:spLocks noGrp="1"/>
          </p:cNvSpPr>
          <p:nvPr>
            <p:ph type="dt" sz="half" idx="10"/>
          </p:nvPr>
        </p:nvSpPr>
        <p:spPr/>
        <p:txBody>
          <a:bodyPr/>
          <a:lstStyle/>
          <a:p>
            <a:fld id="{58D534B4-FB9E-4DDA-B72B-2F7522698E1E}" type="datetimeFigureOut">
              <a:rPr lang="en-GB" smtClean="0"/>
              <a:t>08/12/2024</a:t>
            </a:fld>
            <a:endParaRPr lang="en-GB"/>
          </a:p>
        </p:txBody>
      </p:sp>
      <p:sp>
        <p:nvSpPr>
          <p:cNvPr id="5" name="Segnaposto piè di pagina 4"/>
          <p:cNvSpPr>
            <a:spLocks noGrp="1"/>
          </p:cNvSpPr>
          <p:nvPr>
            <p:ph type="ftr" sz="quarter" idx="11"/>
          </p:nvPr>
        </p:nvSpPr>
        <p:spPr/>
        <p:txBody>
          <a:bodyPr/>
          <a:lstStyle/>
          <a:p>
            <a:endParaRPr lang="en-GB"/>
          </a:p>
        </p:txBody>
      </p:sp>
      <p:sp>
        <p:nvSpPr>
          <p:cNvPr id="6" name="Segnaposto numero diapositiva 5"/>
          <p:cNvSpPr>
            <a:spLocks noGrp="1"/>
          </p:cNvSpPr>
          <p:nvPr>
            <p:ph type="sldNum" sz="quarter" idx="12"/>
          </p:nvPr>
        </p:nvSpPr>
        <p:spPr/>
        <p:txBody>
          <a:bodyPr/>
          <a:lstStyle/>
          <a:p>
            <a:fld id="{3347C5DC-B96D-4131-A2A5-60099509F883}" type="slidenum">
              <a:rPr lang="en-GB" smtClean="0"/>
              <a:t>‹N›</a:t>
            </a:fld>
            <a:endParaRPr lang="en-GB"/>
          </a:p>
        </p:txBody>
      </p:sp>
    </p:spTree>
    <p:extLst>
      <p:ext uri="{BB962C8B-B14F-4D97-AF65-F5344CB8AC3E}">
        <p14:creationId xmlns:p14="http://schemas.microsoft.com/office/powerpoint/2010/main" val="303815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contenuto 2"/>
          <p:cNvSpPr>
            <a:spLocks noGrp="1"/>
          </p:cNvSpPr>
          <p:nvPr>
            <p:ph sz="half" idx="1"/>
          </p:nvPr>
        </p:nvSpPr>
        <p:spPr>
          <a:xfrm>
            <a:off x="838200" y="1825625"/>
            <a:ext cx="5181600" cy="435133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contenuto 3"/>
          <p:cNvSpPr>
            <a:spLocks noGrp="1"/>
          </p:cNvSpPr>
          <p:nvPr>
            <p:ph sz="half" idx="2"/>
          </p:nvPr>
        </p:nvSpPr>
        <p:spPr>
          <a:xfrm>
            <a:off x="6172200" y="1825625"/>
            <a:ext cx="5181600" cy="435133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5" name="Segnaposto data 4"/>
          <p:cNvSpPr>
            <a:spLocks noGrp="1"/>
          </p:cNvSpPr>
          <p:nvPr>
            <p:ph type="dt" sz="half" idx="10"/>
          </p:nvPr>
        </p:nvSpPr>
        <p:spPr/>
        <p:txBody>
          <a:bodyPr/>
          <a:lstStyle/>
          <a:p>
            <a:fld id="{58D534B4-FB9E-4DDA-B72B-2F7522698E1E}" type="datetimeFigureOut">
              <a:rPr lang="en-GB" smtClean="0"/>
              <a:t>08/12/2024</a:t>
            </a:fld>
            <a:endParaRPr lang="en-GB"/>
          </a:p>
        </p:txBody>
      </p:sp>
      <p:sp>
        <p:nvSpPr>
          <p:cNvPr id="6" name="Segnaposto piè di pagina 5"/>
          <p:cNvSpPr>
            <a:spLocks noGrp="1"/>
          </p:cNvSpPr>
          <p:nvPr>
            <p:ph type="ftr" sz="quarter" idx="11"/>
          </p:nvPr>
        </p:nvSpPr>
        <p:spPr/>
        <p:txBody>
          <a:bodyPr/>
          <a:lstStyle/>
          <a:p>
            <a:endParaRPr lang="en-GB"/>
          </a:p>
        </p:txBody>
      </p:sp>
      <p:sp>
        <p:nvSpPr>
          <p:cNvPr id="7" name="Segnaposto numero diapositiva 6"/>
          <p:cNvSpPr>
            <a:spLocks noGrp="1"/>
          </p:cNvSpPr>
          <p:nvPr>
            <p:ph type="sldNum" sz="quarter" idx="12"/>
          </p:nvPr>
        </p:nvSpPr>
        <p:spPr/>
        <p:txBody>
          <a:bodyPr/>
          <a:lstStyle/>
          <a:p>
            <a:fld id="{3347C5DC-B96D-4131-A2A5-60099509F883}" type="slidenum">
              <a:rPr lang="en-GB" smtClean="0"/>
              <a:t>‹N›</a:t>
            </a:fld>
            <a:endParaRPr lang="en-GB"/>
          </a:p>
        </p:txBody>
      </p:sp>
    </p:spTree>
    <p:extLst>
      <p:ext uri="{BB962C8B-B14F-4D97-AF65-F5344CB8AC3E}">
        <p14:creationId xmlns:p14="http://schemas.microsoft.com/office/powerpoint/2010/main" val="3084056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smtClean="0"/>
              <a:t>Fare clic per modificare lo stile del titolo</a:t>
            </a:r>
            <a:endParaRPr lang="en-GB"/>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7" name="Segnaposto data 6"/>
          <p:cNvSpPr>
            <a:spLocks noGrp="1"/>
          </p:cNvSpPr>
          <p:nvPr>
            <p:ph type="dt" sz="half" idx="10"/>
          </p:nvPr>
        </p:nvSpPr>
        <p:spPr/>
        <p:txBody>
          <a:bodyPr/>
          <a:lstStyle/>
          <a:p>
            <a:fld id="{58D534B4-FB9E-4DDA-B72B-2F7522698E1E}" type="datetimeFigureOut">
              <a:rPr lang="en-GB" smtClean="0"/>
              <a:t>08/12/2024</a:t>
            </a:fld>
            <a:endParaRPr lang="en-GB"/>
          </a:p>
        </p:txBody>
      </p:sp>
      <p:sp>
        <p:nvSpPr>
          <p:cNvPr id="8" name="Segnaposto piè di pagina 7"/>
          <p:cNvSpPr>
            <a:spLocks noGrp="1"/>
          </p:cNvSpPr>
          <p:nvPr>
            <p:ph type="ftr" sz="quarter" idx="11"/>
          </p:nvPr>
        </p:nvSpPr>
        <p:spPr/>
        <p:txBody>
          <a:bodyPr/>
          <a:lstStyle/>
          <a:p>
            <a:endParaRPr lang="en-GB"/>
          </a:p>
        </p:txBody>
      </p:sp>
      <p:sp>
        <p:nvSpPr>
          <p:cNvPr id="9" name="Segnaposto numero diapositiva 8"/>
          <p:cNvSpPr>
            <a:spLocks noGrp="1"/>
          </p:cNvSpPr>
          <p:nvPr>
            <p:ph type="sldNum" sz="quarter" idx="12"/>
          </p:nvPr>
        </p:nvSpPr>
        <p:spPr/>
        <p:txBody>
          <a:bodyPr/>
          <a:lstStyle/>
          <a:p>
            <a:fld id="{3347C5DC-B96D-4131-A2A5-60099509F883}" type="slidenum">
              <a:rPr lang="en-GB" smtClean="0"/>
              <a:t>‹N›</a:t>
            </a:fld>
            <a:endParaRPr lang="en-GB"/>
          </a:p>
        </p:txBody>
      </p:sp>
    </p:spTree>
    <p:extLst>
      <p:ext uri="{BB962C8B-B14F-4D97-AF65-F5344CB8AC3E}">
        <p14:creationId xmlns:p14="http://schemas.microsoft.com/office/powerpoint/2010/main" val="544242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data 2"/>
          <p:cNvSpPr>
            <a:spLocks noGrp="1"/>
          </p:cNvSpPr>
          <p:nvPr>
            <p:ph type="dt" sz="half" idx="10"/>
          </p:nvPr>
        </p:nvSpPr>
        <p:spPr/>
        <p:txBody>
          <a:bodyPr/>
          <a:lstStyle/>
          <a:p>
            <a:fld id="{58D534B4-FB9E-4DDA-B72B-2F7522698E1E}" type="datetimeFigureOut">
              <a:rPr lang="en-GB" smtClean="0"/>
              <a:t>08/12/2024</a:t>
            </a:fld>
            <a:endParaRPr lang="en-GB"/>
          </a:p>
        </p:txBody>
      </p:sp>
      <p:sp>
        <p:nvSpPr>
          <p:cNvPr id="4" name="Segnaposto piè di pagina 3"/>
          <p:cNvSpPr>
            <a:spLocks noGrp="1"/>
          </p:cNvSpPr>
          <p:nvPr>
            <p:ph type="ftr" sz="quarter" idx="11"/>
          </p:nvPr>
        </p:nvSpPr>
        <p:spPr/>
        <p:txBody>
          <a:bodyPr/>
          <a:lstStyle/>
          <a:p>
            <a:endParaRPr lang="en-GB"/>
          </a:p>
        </p:txBody>
      </p:sp>
      <p:sp>
        <p:nvSpPr>
          <p:cNvPr id="5" name="Segnaposto numero diapositiva 4"/>
          <p:cNvSpPr>
            <a:spLocks noGrp="1"/>
          </p:cNvSpPr>
          <p:nvPr>
            <p:ph type="sldNum" sz="quarter" idx="12"/>
          </p:nvPr>
        </p:nvSpPr>
        <p:spPr/>
        <p:txBody>
          <a:bodyPr/>
          <a:lstStyle/>
          <a:p>
            <a:fld id="{3347C5DC-B96D-4131-A2A5-60099509F883}" type="slidenum">
              <a:rPr lang="en-GB" smtClean="0"/>
              <a:t>‹N›</a:t>
            </a:fld>
            <a:endParaRPr lang="en-GB"/>
          </a:p>
        </p:txBody>
      </p:sp>
    </p:spTree>
    <p:extLst>
      <p:ext uri="{BB962C8B-B14F-4D97-AF65-F5344CB8AC3E}">
        <p14:creationId xmlns:p14="http://schemas.microsoft.com/office/powerpoint/2010/main" val="841522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58D534B4-FB9E-4DDA-B72B-2F7522698E1E}" type="datetimeFigureOut">
              <a:rPr lang="en-GB" smtClean="0"/>
              <a:t>08/12/2024</a:t>
            </a:fld>
            <a:endParaRPr lang="en-GB"/>
          </a:p>
        </p:txBody>
      </p:sp>
      <p:sp>
        <p:nvSpPr>
          <p:cNvPr id="3" name="Segnaposto piè di pagina 2"/>
          <p:cNvSpPr>
            <a:spLocks noGrp="1"/>
          </p:cNvSpPr>
          <p:nvPr>
            <p:ph type="ftr" sz="quarter" idx="11"/>
          </p:nvPr>
        </p:nvSpPr>
        <p:spPr/>
        <p:txBody>
          <a:bodyPr/>
          <a:lstStyle/>
          <a:p>
            <a:endParaRPr lang="en-GB"/>
          </a:p>
        </p:txBody>
      </p:sp>
      <p:sp>
        <p:nvSpPr>
          <p:cNvPr id="4" name="Segnaposto numero diapositiva 3"/>
          <p:cNvSpPr>
            <a:spLocks noGrp="1"/>
          </p:cNvSpPr>
          <p:nvPr>
            <p:ph type="sldNum" sz="quarter" idx="12"/>
          </p:nvPr>
        </p:nvSpPr>
        <p:spPr/>
        <p:txBody>
          <a:bodyPr/>
          <a:lstStyle/>
          <a:p>
            <a:fld id="{3347C5DC-B96D-4131-A2A5-60099509F883}" type="slidenum">
              <a:rPr lang="en-GB" smtClean="0"/>
              <a:t>‹N›</a:t>
            </a:fld>
            <a:endParaRPr lang="en-GB"/>
          </a:p>
        </p:txBody>
      </p:sp>
    </p:spTree>
    <p:extLst>
      <p:ext uri="{BB962C8B-B14F-4D97-AF65-F5344CB8AC3E}">
        <p14:creationId xmlns:p14="http://schemas.microsoft.com/office/powerpoint/2010/main" val="641403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smtClean="0"/>
              <a:t>Fare clic per modificare lo stile del titolo</a:t>
            </a:r>
            <a:endParaRPr lang="en-GB"/>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smtClean="0"/>
              <a:t>Modifica gli stili del testo dello schema</a:t>
            </a:r>
          </a:p>
        </p:txBody>
      </p:sp>
      <p:sp>
        <p:nvSpPr>
          <p:cNvPr id="5" name="Segnaposto data 4"/>
          <p:cNvSpPr>
            <a:spLocks noGrp="1"/>
          </p:cNvSpPr>
          <p:nvPr>
            <p:ph type="dt" sz="half" idx="10"/>
          </p:nvPr>
        </p:nvSpPr>
        <p:spPr/>
        <p:txBody>
          <a:bodyPr/>
          <a:lstStyle/>
          <a:p>
            <a:fld id="{58D534B4-FB9E-4DDA-B72B-2F7522698E1E}" type="datetimeFigureOut">
              <a:rPr lang="en-GB" smtClean="0"/>
              <a:t>08/12/2024</a:t>
            </a:fld>
            <a:endParaRPr lang="en-GB"/>
          </a:p>
        </p:txBody>
      </p:sp>
      <p:sp>
        <p:nvSpPr>
          <p:cNvPr id="6" name="Segnaposto piè di pagina 5"/>
          <p:cNvSpPr>
            <a:spLocks noGrp="1"/>
          </p:cNvSpPr>
          <p:nvPr>
            <p:ph type="ftr" sz="quarter" idx="11"/>
          </p:nvPr>
        </p:nvSpPr>
        <p:spPr/>
        <p:txBody>
          <a:bodyPr/>
          <a:lstStyle/>
          <a:p>
            <a:endParaRPr lang="en-GB"/>
          </a:p>
        </p:txBody>
      </p:sp>
      <p:sp>
        <p:nvSpPr>
          <p:cNvPr id="7" name="Segnaposto numero diapositiva 6"/>
          <p:cNvSpPr>
            <a:spLocks noGrp="1"/>
          </p:cNvSpPr>
          <p:nvPr>
            <p:ph type="sldNum" sz="quarter" idx="12"/>
          </p:nvPr>
        </p:nvSpPr>
        <p:spPr/>
        <p:txBody>
          <a:bodyPr/>
          <a:lstStyle/>
          <a:p>
            <a:fld id="{3347C5DC-B96D-4131-A2A5-60099509F883}" type="slidenum">
              <a:rPr lang="en-GB" smtClean="0"/>
              <a:t>‹N›</a:t>
            </a:fld>
            <a:endParaRPr lang="en-GB"/>
          </a:p>
        </p:txBody>
      </p:sp>
    </p:spTree>
    <p:extLst>
      <p:ext uri="{BB962C8B-B14F-4D97-AF65-F5344CB8AC3E}">
        <p14:creationId xmlns:p14="http://schemas.microsoft.com/office/powerpoint/2010/main" val="1153828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smtClean="0"/>
              <a:t>Fare clic per modificare lo stile del titolo</a:t>
            </a:r>
            <a:endParaRPr lang="en-GB"/>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smtClean="0"/>
              <a:t>Modifica gli stili del testo dello schema</a:t>
            </a:r>
          </a:p>
        </p:txBody>
      </p:sp>
      <p:sp>
        <p:nvSpPr>
          <p:cNvPr id="5" name="Segnaposto data 4"/>
          <p:cNvSpPr>
            <a:spLocks noGrp="1"/>
          </p:cNvSpPr>
          <p:nvPr>
            <p:ph type="dt" sz="half" idx="10"/>
          </p:nvPr>
        </p:nvSpPr>
        <p:spPr/>
        <p:txBody>
          <a:bodyPr/>
          <a:lstStyle/>
          <a:p>
            <a:fld id="{58D534B4-FB9E-4DDA-B72B-2F7522698E1E}" type="datetimeFigureOut">
              <a:rPr lang="en-GB" smtClean="0"/>
              <a:t>08/12/2024</a:t>
            </a:fld>
            <a:endParaRPr lang="en-GB"/>
          </a:p>
        </p:txBody>
      </p:sp>
      <p:sp>
        <p:nvSpPr>
          <p:cNvPr id="6" name="Segnaposto piè di pagina 5"/>
          <p:cNvSpPr>
            <a:spLocks noGrp="1"/>
          </p:cNvSpPr>
          <p:nvPr>
            <p:ph type="ftr" sz="quarter" idx="11"/>
          </p:nvPr>
        </p:nvSpPr>
        <p:spPr/>
        <p:txBody>
          <a:bodyPr/>
          <a:lstStyle/>
          <a:p>
            <a:endParaRPr lang="en-GB"/>
          </a:p>
        </p:txBody>
      </p:sp>
      <p:sp>
        <p:nvSpPr>
          <p:cNvPr id="7" name="Segnaposto numero diapositiva 6"/>
          <p:cNvSpPr>
            <a:spLocks noGrp="1"/>
          </p:cNvSpPr>
          <p:nvPr>
            <p:ph type="sldNum" sz="quarter" idx="12"/>
          </p:nvPr>
        </p:nvSpPr>
        <p:spPr/>
        <p:txBody>
          <a:bodyPr/>
          <a:lstStyle/>
          <a:p>
            <a:fld id="{3347C5DC-B96D-4131-A2A5-60099509F883}" type="slidenum">
              <a:rPr lang="en-GB" smtClean="0"/>
              <a:t>‹N›</a:t>
            </a:fld>
            <a:endParaRPr lang="en-GB"/>
          </a:p>
        </p:txBody>
      </p:sp>
    </p:spTree>
    <p:extLst>
      <p:ext uri="{BB962C8B-B14F-4D97-AF65-F5344CB8AC3E}">
        <p14:creationId xmlns:p14="http://schemas.microsoft.com/office/powerpoint/2010/main" val="1933348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testo verticale 2"/>
          <p:cNvSpPr>
            <a:spLocks noGrp="1"/>
          </p:cNvSpPr>
          <p:nvPr>
            <p:ph type="body" orient="vert" idx="1"/>
          </p:nvPr>
        </p:nvSpPr>
        <p:spPr/>
        <p:txBody>
          <a:bodyPr vert="eaVert"/>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10"/>
          </p:nvPr>
        </p:nvSpPr>
        <p:spPr/>
        <p:txBody>
          <a:bodyPr/>
          <a:lstStyle/>
          <a:p>
            <a:fld id="{58D534B4-FB9E-4DDA-B72B-2F7522698E1E}" type="datetimeFigureOut">
              <a:rPr lang="en-GB" smtClean="0"/>
              <a:t>08/12/2024</a:t>
            </a:fld>
            <a:endParaRPr lang="en-GB"/>
          </a:p>
        </p:txBody>
      </p:sp>
      <p:sp>
        <p:nvSpPr>
          <p:cNvPr id="5" name="Segnaposto piè di pagina 4"/>
          <p:cNvSpPr>
            <a:spLocks noGrp="1"/>
          </p:cNvSpPr>
          <p:nvPr>
            <p:ph type="ftr" sz="quarter" idx="11"/>
          </p:nvPr>
        </p:nvSpPr>
        <p:spPr/>
        <p:txBody>
          <a:bodyPr/>
          <a:lstStyle/>
          <a:p>
            <a:endParaRPr lang="en-GB"/>
          </a:p>
        </p:txBody>
      </p:sp>
      <p:sp>
        <p:nvSpPr>
          <p:cNvPr id="6" name="Segnaposto numero diapositiva 5"/>
          <p:cNvSpPr>
            <a:spLocks noGrp="1"/>
          </p:cNvSpPr>
          <p:nvPr>
            <p:ph type="sldNum" sz="quarter" idx="12"/>
          </p:nvPr>
        </p:nvSpPr>
        <p:spPr/>
        <p:txBody>
          <a:bodyPr/>
          <a:lstStyle/>
          <a:p>
            <a:fld id="{3347C5DC-B96D-4131-A2A5-60099509F883}" type="slidenum">
              <a:rPr lang="en-GB" smtClean="0"/>
              <a:t>‹N›</a:t>
            </a:fld>
            <a:endParaRPr lang="en-GB"/>
          </a:p>
        </p:txBody>
      </p:sp>
    </p:spTree>
    <p:extLst>
      <p:ext uri="{BB962C8B-B14F-4D97-AF65-F5344CB8AC3E}">
        <p14:creationId xmlns:p14="http://schemas.microsoft.com/office/powerpoint/2010/main" val="1934051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smtClean="0"/>
              <a:t>Fare clic per modificare lo stile del titolo</a:t>
            </a:r>
            <a:endParaRPr lang="en-GB"/>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10"/>
          </p:nvPr>
        </p:nvSpPr>
        <p:spPr/>
        <p:txBody>
          <a:bodyPr/>
          <a:lstStyle/>
          <a:p>
            <a:fld id="{58D534B4-FB9E-4DDA-B72B-2F7522698E1E}" type="datetimeFigureOut">
              <a:rPr lang="en-GB" smtClean="0"/>
              <a:t>08/12/2024</a:t>
            </a:fld>
            <a:endParaRPr lang="en-GB"/>
          </a:p>
        </p:txBody>
      </p:sp>
      <p:sp>
        <p:nvSpPr>
          <p:cNvPr id="5" name="Segnaposto piè di pagina 4"/>
          <p:cNvSpPr>
            <a:spLocks noGrp="1"/>
          </p:cNvSpPr>
          <p:nvPr>
            <p:ph type="ftr" sz="quarter" idx="11"/>
          </p:nvPr>
        </p:nvSpPr>
        <p:spPr/>
        <p:txBody>
          <a:bodyPr/>
          <a:lstStyle/>
          <a:p>
            <a:endParaRPr lang="en-GB"/>
          </a:p>
        </p:txBody>
      </p:sp>
      <p:sp>
        <p:nvSpPr>
          <p:cNvPr id="6" name="Segnaposto numero diapositiva 5"/>
          <p:cNvSpPr>
            <a:spLocks noGrp="1"/>
          </p:cNvSpPr>
          <p:nvPr>
            <p:ph type="sldNum" sz="quarter" idx="12"/>
          </p:nvPr>
        </p:nvSpPr>
        <p:spPr/>
        <p:txBody>
          <a:bodyPr/>
          <a:lstStyle/>
          <a:p>
            <a:fld id="{3347C5DC-B96D-4131-A2A5-60099509F883}" type="slidenum">
              <a:rPr lang="en-GB" smtClean="0"/>
              <a:t>‹N›</a:t>
            </a:fld>
            <a:endParaRPr lang="en-GB"/>
          </a:p>
        </p:txBody>
      </p:sp>
    </p:spTree>
    <p:extLst>
      <p:ext uri="{BB962C8B-B14F-4D97-AF65-F5344CB8AC3E}">
        <p14:creationId xmlns:p14="http://schemas.microsoft.com/office/powerpoint/2010/main" val="1497178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smtClean="0"/>
              <a:t>Fare clic per modificare lo stile del titolo</a:t>
            </a:r>
            <a:endParaRPr lang="en-GB"/>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D534B4-FB9E-4DDA-B72B-2F7522698E1E}" type="datetimeFigureOut">
              <a:rPr lang="en-GB" smtClean="0"/>
              <a:t>08/12/2024</a:t>
            </a:fld>
            <a:endParaRPr lang="en-GB"/>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47C5DC-B96D-4131-A2A5-60099509F883}" type="slidenum">
              <a:rPr lang="en-GB" smtClean="0"/>
              <a:t>‹N›</a:t>
            </a:fld>
            <a:endParaRPr lang="en-GB"/>
          </a:p>
        </p:txBody>
      </p:sp>
    </p:spTree>
    <p:extLst>
      <p:ext uri="{BB962C8B-B14F-4D97-AF65-F5344CB8AC3E}">
        <p14:creationId xmlns:p14="http://schemas.microsoft.com/office/powerpoint/2010/main" val="4081647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p:txBody>
          <a:bodyPr/>
          <a:lstStyle/>
          <a:p>
            <a:r>
              <a:rPr lang="it-IT" dirty="0" smtClean="0"/>
              <a:t>Progetto EIM2024/2025</a:t>
            </a:r>
            <a:endParaRPr lang="en-GB" dirty="0"/>
          </a:p>
        </p:txBody>
      </p:sp>
      <p:sp>
        <p:nvSpPr>
          <p:cNvPr id="3" name="Sottotitolo 2"/>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326835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Articolazione del progetto -  STEP 1</a:t>
            </a:r>
            <a:endParaRPr lang="en-GB" dirty="0"/>
          </a:p>
        </p:txBody>
      </p:sp>
      <p:sp>
        <p:nvSpPr>
          <p:cNvPr id="3" name="CasellaDiTesto 2"/>
          <p:cNvSpPr txBox="1"/>
          <p:nvPr/>
        </p:nvSpPr>
        <p:spPr>
          <a:xfrm>
            <a:off x="954593" y="1690688"/>
            <a:ext cx="10812027" cy="4308872"/>
          </a:xfrm>
          <a:prstGeom prst="rect">
            <a:avLst/>
          </a:prstGeom>
          <a:noFill/>
        </p:spPr>
        <p:txBody>
          <a:bodyPr wrap="square" rtlCol="0">
            <a:spAutoFit/>
          </a:bodyPr>
          <a:lstStyle/>
          <a:p>
            <a:pPr marL="342900" indent="-342900" algn="just">
              <a:buFont typeface="+mj-lt"/>
              <a:buAutoNum type="arabicPeriod"/>
            </a:pPr>
            <a:r>
              <a:rPr lang="it-IT" dirty="0" smtClean="0"/>
              <a:t>Dividere il </a:t>
            </a:r>
            <a:r>
              <a:rPr lang="it-IT" dirty="0" err="1" smtClean="0"/>
              <a:t>dataset</a:t>
            </a:r>
            <a:r>
              <a:rPr lang="it-IT" dirty="0" smtClean="0"/>
              <a:t> fornito in due sottoinsiemi TRAINING SET e TEST SET. </a:t>
            </a:r>
          </a:p>
          <a:p>
            <a:pPr algn="just"/>
            <a:endParaRPr lang="it-IT" dirty="0" smtClean="0"/>
          </a:p>
          <a:p>
            <a:pPr marL="857250" lvl="1" indent="-400050" algn="just">
              <a:spcAft>
                <a:spcPts val="1200"/>
              </a:spcAft>
              <a:buFont typeface="+mj-lt"/>
              <a:buAutoNum type="romanUcPeriod"/>
            </a:pPr>
            <a:r>
              <a:rPr lang="it-IT" dirty="0" smtClean="0"/>
              <a:t>Questa operazione da fare secondo le strategie presentate in una precedente lezione serve per creare un </a:t>
            </a:r>
            <a:r>
              <a:rPr lang="it-IT" dirty="0" err="1" smtClean="0"/>
              <a:t>sottinsieme</a:t>
            </a:r>
            <a:r>
              <a:rPr lang="it-IT" dirty="0" smtClean="0"/>
              <a:t> di immagini e corrispondenti GT per l’ottimizzazione dei parametri dell’algoritmo o l’addestramento della rete neurale. </a:t>
            </a:r>
          </a:p>
          <a:p>
            <a:pPr marL="857250" lvl="1" indent="-400050" algn="just">
              <a:spcAft>
                <a:spcPts val="1200"/>
              </a:spcAft>
              <a:buFont typeface="+mj-lt"/>
              <a:buAutoNum type="romanUcPeriod"/>
            </a:pPr>
            <a:r>
              <a:rPr lang="it-IT" dirty="0" smtClean="0"/>
              <a:t>Il </a:t>
            </a:r>
            <a:r>
              <a:rPr lang="it-IT" dirty="0" err="1" smtClean="0"/>
              <a:t>dataset</a:t>
            </a:r>
            <a:r>
              <a:rPr lang="it-IT" dirty="0" smtClean="0"/>
              <a:t> di TEST servirà per verificare le prestazioni del metodo ottimizzato</a:t>
            </a:r>
            <a:r>
              <a:rPr lang="it-IT" dirty="0" smtClean="0"/>
              <a:t>.</a:t>
            </a:r>
          </a:p>
          <a:p>
            <a:pPr marL="857250" lvl="1" indent="-400050" algn="just">
              <a:spcAft>
                <a:spcPts val="1200"/>
              </a:spcAft>
              <a:buFont typeface="+mj-lt"/>
              <a:buAutoNum type="romanUcPeriod"/>
            </a:pPr>
            <a:r>
              <a:rPr lang="it-IT" dirty="0" smtClean="0"/>
              <a:t>LA DIVISIONE VA FATTA PER CASO E NON PER IMMAGINE. IL NUMERO DEL CASO LO TROVATE NELLA PRIMA PARTE DEL NOME MDB001 è IL CASO 1, MDB054 è IL CASO 54. Lo stesso caso non può trovarsi contemporaneamente sia in </a:t>
            </a:r>
            <a:r>
              <a:rPr lang="it-IT" smtClean="0"/>
              <a:t>training che in test.</a:t>
            </a:r>
            <a:endParaRPr lang="it-IT" dirty="0" smtClean="0"/>
          </a:p>
          <a:p>
            <a:pPr marL="857250" lvl="1" indent="-400050" algn="just">
              <a:spcAft>
                <a:spcPts val="1200"/>
              </a:spcAft>
              <a:buFont typeface="+mj-lt"/>
              <a:buAutoNum type="romanUcPeriod"/>
            </a:pPr>
            <a:r>
              <a:rPr lang="it-IT" dirty="0" smtClean="0"/>
              <a:t>Attenzione </a:t>
            </a:r>
            <a:r>
              <a:rPr lang="it-IT" dirty="0" smtClean="0"/>
              <a:t>al salvataggio che sia nel formato giusto, mai JPEG, e usando </a:t>
            </a:r>
            <a:r>
              <a:rPr lang="it-IT" dirty="0" err="1" smtClean="0">
                <a:latin typeface="Courier New" panose="02070309020205020404" pitchFamily="49" charset="0"/>
                <a:cs typeface="Courier New" panose="02070309020205020404" pitchFamily="49" charset="0"/>
              </a:rPr>
              <a:t>imwrite</a:t>
            </a:r>
            <a:r>
              <a:rPr lang="it-IT" dirty="0" smtClean="0">
                <a:latin typeface="Courier New" panose="02070309020205020404" pitchFamily="49" charset="0"/>
                <a:cs typeface="Courier New" panose="02070309020205020404" pitchFamily="49" charset="0"/>
              </a:rPr>
              <a:t>.</a:t>
            </a:r>
          </a:p>
          <a:p>
            <a:pPr marL="857250" lvl="1" indent="-400050" algn="just">
              <a:buFont typeface="+mj-lt"/>
              <a:buAutoNum type="romanUcPeriod"/>
            </a:pPr>
            <a:r>
              <a:rPr lang="it-IT" dirty="0" smtClean="0">
                <a:cs typeface="Courier New" panose="02070309020205020404" pitchFamily="49" charset="0"/>
              </a:rPr>
              <a:t>Attenzione anche che il GT risulti una immagine binaria con i soli valori 0 e 1. Alcuni formati di salvataggio come il jpeg alterano questa condizione rendendo una immagine binaria una a valori double. </a:t>
            </a:r>
          </a:p>
          <a:p>
            <a:pPr algn="just"/>
            <a:endParaRPr lang="en-GB"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40614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Articolazione del progetto -  STEP 2</a:t>
            </a:r>
            <a:endParaRPr lang="en-GB" dirty="0"/>
          </a:p>
        </p:txBody>
      </p:sp>
      <p:sp>
        <p:nvSpPr>
          <p:cNvPr id="3" name="CasellaDiTesto 2"/>
          <p:cNvSpPr txBox="1"/>
          <p:nvPr/>
        </p:nvSpPr>
        <p:spPr>
          <a:xfrm>
            <a:off x="954593" y="1690688"/>
            <a:ext cx="10812027" cy="3416320"/>
          </a:xfrm>
          <a:prstGeom prst="rect">
            <a:avLst/>
          </a:prstGeom>
          <a:noFill/>
        </p:spPr>
        <p:txBody>
          <a:bodyPr wrap="square" rtlCol="0">
            <a:spAutoFit/>
          </a:bodyPr>
          <a:lstStyle/>
          <a:p>
            <a:pPr algn="just"/>
            <a:r>
              <a:rPr lang="it-IT" dirty="0" smtClean="0"/>
              <a:t>Rete Neurale</a:t>
            </a:r>
          </a:p>
          <a:p>
            <a:pPr marL="342900" indent="-342900" algn="just">
              <a:buFont typeface="+mj-lt"/>
              <a:buAutoNum type="arabicPeriod"/>
            </a:pPr>
            <a:endParaRPr lang="it-IT" dirty="0">
              <a:cs typeface="Courier New" panose="02070309020205020404" pitchFamily="49" charset="0"/>
            </a:endParaRPr>
          </a:p>
          <a:p>
            <a:pPr algn="just"/>
            <a:r>
              <a:rPr lang="it-IT" dirty="0" smtClean="0">
                <a:cs typeface="Courier New" panose="02070309020205020404" pitchFamily="49" charset="0"/>
              </a:rPr>
              <a:t>2. Scegliendo dall’insieme di reti esistenti una possibile, occorre addestrarla al task di segmentazione usando il </a:t>
            </a:r>
            <a:r>
              <a:rPr lang="it-IT" dirty="0" err="1" smtClean="0">
                <a:cs typeface="Courier New" panose="02070309020205020404" pitchFamily="49" charset="0"/>
              </a:rPr>
              <a:t>dataset</a:t>
            </a:r>
            <a:r>
              <a:rPr lang="it-IT" dirty="0" smtClean="0">
                <a:cs typeface="Courier New" panose="02070309020205020404" pitchFamily="49" charset="0"/>
              </a:rPr>
              <a:t> di training. </a:t>
            </a:r>
          </a:p>
          <a:p>
            <a:pPr algn="just"/>
            <a:endParaRPr lang="it-IT" dirty="0" smtClean="0">
              <a:cs typeface="Courier New" panose="02070309020205020404" pitchFamily="49" charset="0"/>
            </a:endParaRPr>
          </a:p>
          <a:p>
            <a:pPr algn="just"/>
            <a:r>
              <a:rPr lang="it-IT" dirty="0" smtClean="0">
                <a:cs typeface="Courier New" panose="02070309020205020404" pitchFamily="49" charset="0"/>
              </a:rPr>
              <a:t>3. Verificare i parametri di addestramento e salvare la rete addestrata. </a:t>
            </a:r>
          </a:p>
          <a:p>
            <a:pPr algn="just"/>
            <a:endParaRPr lang="it-IT" dirty="0">
              <a:cs typeface="Courier New" panose="02070309020205020404" pitchFamily="49" charset="0"/>
            </a:endParaRPr>
          </a:p>
          <a:p>
            <a:pPr algn="just"/>
            <a:r>
              <a:rPr lang="it-IT" dirty="0" smtClean="0">
                <a:cs typeface="Courier New" panose="02070309020205020404" pitchFamily="49" charset="0"/>
              </a:rPr>
              <a:t>4. </a:t>
            </a:r>
            <a:r>
              <a:rPr lang="it-IT" dirty="0" smtClean="0"/>
              <a:t>Data la rete così addestrata occorre lanciarla </a:t>
            </a:r>
            <a:r>
              <a:rPr lang="it-IT" dirty="0"/>
              <a:t>su tutte le immagini di test. </a:t>
            </a:r>
            <a:endParaRPr lang="it-IT" dirty="0" smtClean="0"/>
          </a:p>
          <a:p>
            <a:pPr algn="just"/>
            <a:endParaRPr lang="it-IT" dirty="0">
              <a:cs typeface="Courier New" panose="02070309020205020404" pitchFamily="49" charset="0"/>
            </a:endParaRPr>
          </a:p>
          <a:p>
            <a:pPr algn="just"/>
            <a:r>
              <a:rPr lang="it-IT" dirty="0" smtClean="0">
                <a:cs typeface="Courier New" panose="02070309020205020404" pitchFamily="49" charset="0"/>
              </a:rPr>
              <a:t>5. Per </a:t>
            </a:r>
            <a:r>
              <a:rPr lang="it-IT" dirty="0">
                <a:cs typeface="Courier New" panose="02070309020205020404" pitchFamily="49" charset="0"/>
              </a:rPr>
              <a:t>ogni immagine di test avrete quindi una FM corrispondente al suo GT</a:t>
            </a:r>
            <a:r>
              <a:rPr lang="it-IT" dirty="0" smtClean="0">
                <a:cs typeface="Courier New" panose="02070309020205020404" pitchFamily="49" charset="0"/>
              </a:rPr>
              <a:t>. </a:t>
            </a:r>
            <a:r>
              <a:rPr lang="it-IT" dirty="0" smtClean="0">
                <a:solidFill>
                  <a:srgbClr val="FF0000"/>
                </a:solidFill>
                <a:cs typeface="Courier New" panose="02070309020205020404" pitchFamily="49" charset="0"/>
              </a:rPr>
              <a:t>(Prestazioni della rete)</a:t>
            </a:r>
            <a:endParaRPr lang="it-IT" dirty="0">
              <a:solidFill>
                <a:srgbClr val="FF0000"/>
              </a:solidFill>
            </a:endParaRPr>
          </a:p>
          <a:p>
            <a:pPr lvl="1" algn="just"/>
            <a:endParaRPr lang="it-IT" dirty="0">
              <a:cs typeface="Courier New" panose="02070309020205020404" pitchFamily="49" charset="0"/>
            </a:endParaRPr>
          </a:p>
          <a:p>
            <a:pPr algn="just"/>
            <a:endParaRPr lang="en-GB"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39835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Articolazione del progetto -  STEP 3</a:t>
            </a:r>
            <a:endParaRPr lang="en-GB" dirty="0"/>
          </a:p>
        </p:txBody>
      </p:sp>
      <p:sp>
        <p:nvSpPr>
          <p:cNvPr id="3" name="CasellaDiTesto 2"/>
          <p:cNvSpPr txBox="1"/>
          <p:nvPr/>
        </p:nvSpPr>
        <p:spPr>
          <a:xfrm>
            <a:off x="954594" y="1690688"/>
            <a:ext cx="10731640" cy="5139869"/>
          </a:xfrm>
          <a:prstGeom prst="rect">
            <a:avLst/>
          </a:prstGeom>
          <a:noFill/>
        </p:spPr>
        <p:txBody>
          <a:bodyPr wrap="square" rtlCol="0">
            <a:spAutoFit/>
          </a:bodyPr>
          <a:lstStyle/>
          <a:p>
            <a:pPr algn="just"/>
            <a:r>
              <a:rPr lang="it-IT" dirty="0" smtClean="0"/>
              <a:t>1. Dato l’algoritmo scelto dovete ottimizzare i parametri dell’algoritmo sulle immagini di training usando il corrispondente GT per la valutazione delle FM di ogni immagine. </a:t>
            </a:r>
          </a:p>
          <a:p>
            <a:pPr algn="just"/>
            <a:endParaRPr lang="it-IT" dirty="0" smtClean="0"/>
          </a:p>
          <a:p>
            <a:pPr marL="857250" lvl="1" indent="-400050" algn="just">
              <a:spcAft>
                <a:spcPts val="1200"/>
              </a:spcAft>
              <a:buFont typeface="+mj-lt"/>
              <a:buAutoNum type="romanUcPeriod"/>
            </a:pPr>
            <a:r>
              <a:rPr lang="it-IT" dirty="0" smtClean="0"/>
              <a:t>Ricordare che ogni immagine di training avrà il suo set di parametri ottimizzato ossia quel set che massimizza la sua FM rispetto al GT. </a:t>
            </a:r>
          </a:p>
          <a:p>
            <a:pPr marL="857250" lvl="1" indent="-400050" algn="just">
              <a:spcAft>
                <a:spcPts val="1200"/>
              </a:spcAft>
              <a:buFont typeface="+mj-lt"/>
              <a:buAutoNum type="romanUcPeriod"/>
            </a:pPr>
            <a:r>
              <a:rPr lang="it-IT" dirty="0" smtClean="0">
                <a:cs typeface="Courier New" panose="02070309020205020404" pitchFamily="49" charset="0"/>
              </a:rPr>
              <a:t>L’ottimizzazione può comprendere anche parametri di aumento di contrasto o </a:t>
            </a:r>
            <a:r>
              <a:rPr lang="it-IT" dirty="0" err="1" smtClean="0">
                <a:cs typeface="Courier New" panose="02070309020205020404" pitchFamily="49" charset="0"/>
              </a:rPr>
              <a:t>denoising</a:t>
            </a:r>
            <a:r>
              <a:rPr lang="it-IT" dirty="0" smtClean="0">
                <a:cs typeface="Courier New" panose="02070309020205020404" pitchFamily="49" charset="0"/>
              </a:rPr>
              <a:t> ove necessario. </a:t>
            </a:r>
          </a:p>
          <a:p>
            <a:pPr marL="857250" lvl="1" indent="-400050" algn="just">
              <a:spcAft>
                <a:spcPts val="1200"/>
              </a:spcAft>
              <a:buFont typeface="+mj-lt"/>
              <a:buAutoNum type="romanUcPeriod"/>
            </a:pPr>
            <a:r>
              <a:rPr lang="it-IT" dirty="0" smtClean="0">
                <a:cs typeface="Courier New" panose="02070309020205020404" pitchFamily="49" charset="0"/>
              </a:rPr>
              <a:t>Alla fine del processo di ottimizzazione avrete un set ottimo di parametri per ogni immagine di training e dovrete collassarlo in un solo valore per ogni parametro. Se si tratta di valori reali (come ad esempio le soglie) allora potete farne la media. Se invece si tratta di ‘dimensione di zone’ quindi numeri interi sarebbe opportuno farne la moda, ossia scegliere la dimensione più scelta, evitando in tal modo di ottenere una dimensione non intera.</a:t>
            </a:r>
          </a:p>
          <a:p>
            <a:pPr marL="857250" lvl="1" indent="-400050" algn="just">
              <a:spcAft>
                <a:spcPts val="1200"/>
              </a:spcAft>
              <a:buFont typeface="+mj-lt"/>
              <a:buAutoNum type="romanUcPeriod"/>
            </a:pPr>
            <a:r>
              <a:rPr lang="it-IT" dirty="0" smtClean="0"/>
              <a:t>Dato il </a:t>
            </a:r>
            <a:r>
              <a:rPr lang="it-IT" dirty="0" err="1" smtClean="0"/>
              <a:t>dataset</a:t>
            </a:r>
            <a:r>
              <a:rPr lang="it-IT" dirty="0" smtClean="0"/>
              <a:t> di parametri ottimo così fissato dovete fissarli nell’algoritmo e lanciare su tutte le immagini di test. </a:t>
            </a:r>
          </a:p>
          <a:p>
            <a:pPr marL="857250" lvl="1" indent="-400050" algn="just">
              <a:buFont typeface="+mj-lt"/>
              <a:buAutoNum type="romanUcPeriod"/>
            </a:pPr>
            <a:r>
              <a:rPr lang="it-IT" dirty="0" smtClean="0">
                <a:cs typeface="Courier New" panose="02070309020205020404" pitchFamily="49" charset="0"/>
              </a:rPr>
              <a:t>Per ogni immagine di test avrete quindi una FM corrispondente al suo GT. (</a:t>
            </a:r>
            <a:r>
              <a:rPr lang="it-IT" dirty="0" smtClean="0">
                <a:solidFill>
                  <a:schemeClr val="accent6"/>
                </a:solidFill>
                <a:cs typeface="Courier New" panose="02070309020205020404" pitchFamily="49" charset="0"/>
              </a:rPr>
              <a:t>Prestazioni dell’algoritmo)</a:t>
            </a:r>
            <a:endParaRPr lang="it-IT" dirty="0" smtClean="0">
              <a:solidFill>
                <a:schemeClr val="accent6"/>
              </a:solidFill>
            </a:endParaRPr>
          </a:p>
          <a:p>
            <a:pPr lvl="1" algn="just"/>
            <a:endParaRPr lang="it-IT" dirty="0" smtClean="0">
              <a:cs typeface="Courier New" panose="02070309020205020404" pitchFamily="49" charset="0"/>
            </a:endParaRPr>
          </a:p>
          <a:p>
            <a:pPr algn="just"/>
            <a:endParaRPr lang="en-GB"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09270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Articolazione del progetto -  STEP 4</a:t>
            </a:r>
            <a:endParaRPr lang="en-GB" dirty="0"/>
          </a:p>
        </p:txBody>
      </p:sp>
      <p:sp>
        <p:nvSpPr>
          <p:cNvPr id="3" name="CasellaDiTesto 2"/>
          <p:cNvSpPr txBox="1"/>
          <p:nvPr/>
        </p:nvSpPr>
        <p:spPr>
          <a:xfrm>
            <a:off x="954593" y="1690688"/>
            <a:ext cx="10651253" cy="4154984"/>
          </a:xfrm>
          <a:prstGeom prst="rect">
            <a:avLst/>
          </a:prstGeom>
          <a:noFill/>
        </p:spPr>
        <p:txBody>
          <a:bodyPr wrap="square" rtlCol="0">
            <a:spAutoFit/>
          </a:bodyPr>
          <a:lstStyle/>
          <a:p>
            <a:pPr algn="just"/>
            <a:r>
              <a:rPr lang="it-IT" dirty="0"/>
              <a:t>3</a:t>
            </a:r>
            <a:r>
              <a:rPr lang="it-IT" dirty="0" smtClean="0"/>
              <a:t>. Presentazione dei risultati.</a:t>
            </a:r>
          </a:p>
          <a:p>
            <a:pPr algn="just"/>
            <a:endParaRPr lang="it-IT" dirty="0" smtClean="0"/>
          </a:p>
          <a:p>
            <a:pPr marL="762000" lvl="1" indent="-400050" algn="just">
              <a:spcAft>
                <a:spcPts val="1200"/>
              </a:spcAft>
              <a:buAutoNum type="romanLcPeriod"/>
            </a:pPr>
            <a:r>
              <a:rPr lang="it-IT" dirty="0" smtClean="0"/>
              <a:t>Rappresentare i valori di FM (e volendo CM e CR) su grafici sintetici come </a:t>
            </a:r>
            <a:r>
              <a:rPr lang="it-IT" dirty="0" err="1" smtClean="0"/>
              <a:t>boxplot</a:t>
            </a:r>
            <a:r>
              <a:rPr lang="it-IT" dirty="0" smtClean="0"/>
              <a:t>, istogrammi, </a:t>
            </a:r>
            <a:r>
              <a:rPr lang="it-IT" dirty="0" err="1" smtClean="0"/>
              <a:t>purchè</a:t>
            </a:r>
            <a:r>
              <a:rPr lang="it-IT" dirty="0" smtClean="0"/>
              <a:t> si evidenzi la dispersione sulle diverse immagini (sia per TRAINING che per TEST). Esiste </a:t>
            </a:r>
            <a:r>
              <a:rPr lang="it-IT" dirty="0" err="1" smtClean="0"/>
              <a:t>ra</a:t>
            </a:r>
            <a:r>
              <a:rPr lang="it-IT" dirty="0" smtClean="0"/>
              <a:t> anche il </a:t>
            </a:r>
            <a:r>
              <a:rPr lang="it-IT" dirty="0" err="1" smtClean="0"/>
              <a:t>violinplot</a:t>
            </a:r>
            <a:r>
              <a:rPr lang="it-IT" dirty="0" smtClean="0"/>
              <a:t>, o anche l’uso del bar con le barre di errore sovrapposto.</a:t>
            </a:r>
          </a:p>
          <a:p>
            <a:pPr marL="762000" lvl="1" indent="-400050" algn="just">
              <a:spcAft>
                <a:spcPts val="1200"/>
              </a:spcAft>
              <a:buAutoNum type="romanLcPeriod"/>
            </a:pPr>
            <a:r>
              <a:rPr lang="it-IT" dirty="0" smtClean="0"/>
              <a:t>Identificare i casi migliori e peggiori per TRAINING e TEST e rappresentare anche i corrispondenti risultati visivi di segmentazione utilizzando ad esempio la funzione </a:t>
            </a:r>
            <a:r>
              <a:rPr lang="it-IT" dirty="0" err="1" smtClean="0">
                <a:latin typeface="Courier New" panose="02070309020205020404" pitchFamily="49" charset="0"/>
                <a:cs typeface="Courier New" panose="02070309020205020404" pitchFamily="49" charset="0"/>
              </a:rPr>
              <a:t>imshowpair</a:t>
            </a:r>
            <a:r>
              <a:rPr lang="it-IT" dirty="0" smtClean="0">
                <a:cs typeface="Courier New" panose="02070309020205020404" pitchFamily="49" charset="0"/>
              </a:rPr>
              <a:t> così da evidenziare e poter discutere le criticità, le zone di falsi positivi e quelle di fasi negativi.</a:t>
            </a:r>
          </a:p>
          <a:p>
            <a:pPr marL="762000" lvl="1" indent="-400050" algn="just">
              <a:spcAft>
                <a:spcPts val="1200"/>
              </a:spcAft>
              <a:buAutoNum type="romanLcPeriod"/>
            </a:pPr>
            <a:r>
              <a:rPr lang="it-IT" dirty="0" smtClean="0">
                <a:cs typeface="Courier New" panose="02070309020205020404" pitchFamily="49" charset="0"/>
              </a:rPr>
              <a:t>In una ottica di successiva caratterizzazione degli oggetti segmentati (ad esempio masse tumorali maligne e benigne) aggiungere una discussione sui bordi degli oggetti segmentati discutendo se ritenete che il vostro metodo sia stato in grado di estrarre le caratteristiche peculiari dell’oggetto ad esempio in termine di infiltrazione nel tessuto circostante o meno.</a:t>
            </a:r>
          </a:p>
          <a:p>
            <a:pPr marL="762000" lvl="1" indent="-400050" algn="just">
              <a:spcAft>
                <a:spcPts val="1200"/>
              </a:spcAft>
              <a:buAutoNum type="romanLcPeriod"/>
            </a:pPr>
            <a:r>
              <a:rPr lang="it-IT" dirty="0" smtClean="0">
                <a:cs typeface="Courier New" panose="02070309020205020404" pitchFamily="49" charset="0"/>
              </a:rPr>
              <a:t>Commentare confrontandoli i risultati della rete e dell’algoritmo. </a:t>
            </a:r>
          </a:p>
        </p:txBody>
      </p:sp>
    </p:spTree>
    <p:extLst>
      <p:ext uri="{BB962C8B-B14F-4D97-AF65-F5344CB8AC3E}">
        <p14:creationId xmlns:p14="http://schemas.microsoft.com/office/powerpoint/2010/main" val="3236805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Articolazione del progetto -  STEP 5</a:t>
            </a:r>
            <a:endParaRPr lang="en-GB" dirty="0"/>
          </a:p>
        </p:txBody>
      </p:sp>
      <p:sp>
        <p:nvSpPr>
          <p:cNvPr id="3" name="CasellaDiTesto 2"/>
          <p:cNvSpPr txBox="1"/>
          <p:nvPr/>
        </p:nvSpPr>
        <p:spPr>
          <a:xfrm>
            <a:off x="954593" y="1690688"/>
            <a:ext cx="10651253" cy="369332"/>
          </a:xfrm>
          <a:prstGeom prst="rect">
            <a:avLst/>
          </a:prstGeom>
          <a:noFill/>
        </p:spPr>
        <p:txBody>
          <a:bodyPr wrap="square" rtlCol="0">
            <a:spAutoFit/>
          </a:bodyPr>
          <a:lstStyle/>
          <a:p>
            <a:pPr algn="just"/>
            <a:r>
              <a:rPr lang="it-IT" dirty="0" smtClean="0"/>
              <a:t>Caratterizzazione delle forme </a:t>
            </a:r>
            <a:endParaRPr lang="it-IT" dirty="0" smtClean="0">
              <a:cs typeface="Courier New" panose="02070309020205020404" pitchFamily="49" charset="0"/>
            </a:endParaRPr>
          </a:p>
        </p:txBody>
      </p:sp>
      <p:sp>
        <p:nvSpPr>
          <p:cNvPr id="4" name="CasellaDiTesto 3"/>
          <p:cNvSpPr txBox="1"/>
          <p:nvPr/>
        </p:nvSpPr>
        <p:spPr>
          <a:xfrm>
            <a:off x="1024932" y="2481943"/>
            <a:ext cx="10671349" cy="2031325"/>
          </a:xfrm>
          <a:prstGeom prst="rect">
            <a:avLst/>
          </a:prstGeom>
          <a:noFill/>
        </p:spPr>
        <p:txBody>
          <a:bodyPr wrap="square" rtlCol="0">
            <a:spAutoFit/>
          </a:bodyPr>
          <a:lstStyle/>
          <a:p>
            <a:r>
              <a:rPr lang="it-IT" dirty="0" smtClean="0"/>
              <a:t>Scegliendo il metodo di segmentazione più opportuno (Rete o algoritmo), applicare il codice di estrazioni delle caratteristiche di forma e di aspetto. </a:t>
            </a:r>
          </a:p>
          <a:p>
            <a:endParaRPr lang="it-IT" dirty="0"/>
          </a:p>
          <a:p>
            <a:r>
              <a:rPr lang="it-IT" dirty="0" smtClean="0"/>
              <a:t>Plottare i </a:t>
            </a:r>
            <a:r>
              <a:rPr lang="it-IT" dirty="0" err="1" smtClean="0"/>
              <a:t>boxplot</a:t>
            </a:r>
            <a:r>
              <a:rPr lang="it-IT" dirty="0" smtClean="0"/>
              <a:t> dei parametri scelti differenziandoli per maligne e benigne. Trovate la corrispondenza nomenclatura nel file testo allegato.</a:t>
            </a:r>
          </a:p>
          <a:p>
            <a:endParaRPr lang="it-IT" dirty="0"/>
          </a:p>
          <a:p>
            <a:r>
              <a:rPr lang="it-IT" dirty="0" smtClean="0"/>
              <a:t>Discutere sulla bontà della segmentazione in funzione di questo aspetto.</a:t>
            </a:r>
            <a:endParaRPr lang="en-GB" dirty="0"/>
          </a:p>
        </p:txBody>
      </p:sp>
    </p:spTree>
    <p:extLst>
      <p:ext uri="{BB962C8B-B14F-4D97-AF65-F5344CB8AC3E}">
        <p14:creationId xmlns:p14="http://schemas.microsoft.com/office/powerpoint/2010/main" val="3443247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Articolazione del progetto -  STEP 6</a:t>
            </a:r>
            <a:endParaRPr lang="en-GB" dirty="0"/>
          </a:p>
        </p:txBody>
      </p:sp>
      <p:sp>
        <p:nvSpPr>
          <p:cNvPr id="3" name="CasellaDiTesto 2"/>
          <p:cNvSpPr txBox="1"/>
          <p:nvPr/>
        </p:nvSpPr>
        <p:spPr>
          <a:xfrm>
            <a:off x="954593" y="1690688"/>
            <a:ext cx="10651253" cy="4585871"/>
          </a:xfrm>
          <a:prstGeom prst="rect">
            <a:avLst/>
          </a:prstGeom>
          <a:noFill/>
        </p:spPr>
        <p:txBody>
          <a:bodyPr wrap="square" rtlCol="0">
            <a:spAutoFit/>
          </a:bodyPr>
          <a:lstStyle/>
          <a:p>
            <a:pPr algn="just"/>
            <a:r>
              <a:rPr lang="it-IT" dirty="0" smtClean="0"/>
              <a:t>4. Informazioni logistiche.</a:t>
            </a:r>
          </a:p>
          <a:p>
            <a:pPr algn="just"/>
            <a:endParaRPr lang="it-IT" dirty="0" smtClean="0"/>
          </a:p>
          <a:p>
            <a:pPr marL="762000" lvl="1" indent="-400050" algn="just">
              <a:spcAft>
                <a:spcPts val="1200"/>
              </a:spcAft>
              <a:buAutoNum type="romanLcPeriod"/>
            </a:pPr>
            <a:r>
              <a:rPr lang="it-IT" dirty="0" smtClean="0"/>
              <a:t>Il progetto va presentato in alcune slide </a:t>
            </a:r>
            <a:r>
              <a:rPr lang="it-IT" dirty="0" err="1" smtClean="0"/>
              <a:t>power</a:t>
            </a:r>
            <a:r>
              <a:rPr lang="it-IT" dirty="0" smtClean="0"/>
              <a:t> </a:t>
            </a:r>
            <a:r>
              <a:rPr lang="it-IT" dirty="0" err="1" smtClean="0"/>
              <a:t>point</a:t>
            </a:r>
            <a:r>
              <a:rPr lang="it-IT" dirty="0" smtClean="0"/>
              <a:t> in cui illustrare brevemente la tipologia di immagini che state acquisendo, che tipo di </a:t>
            </a:r>
            <a:r>
              <a:rPr lang="it-IT" dirty="0" err="1" smtClean="0"/>
              <a:t>imaging</a:t>
            </a:r>
            <a:r>
              <a:rPr lang="it-IT" dirty="0" smtClean="0"/>
              <a:t>, che tipo di tessuto e soprattutto che tipo di algoritmo è stato scelto per la segmentazione e perché. Alcuni risultati principali devono essere inseriti nelle slide a dimostrazione del lavoro svolto. </a:t>
            </a:r>
          </a:p>
          <a:p>
            <a:pPr marL="762000" lvl="1" indent="-400050" algn="just">
              <a:spcAft>
                <a:spcPts val="1200"/>
              </a:spcAft>
              <a:buAutoNum type="romanLcPeriod"/>
            </a:pPr>
            <a:r>
              <a:rPr lang="it-IT" dirty="0" smtClean="0"/>
              <a:t>Il funzionamento del codice va mostrato in sede di discussione lanciando il test ed eventualmente caricando un file .</a:t>
            </a:r>
            <a:r>
              <a:rPr lang="it-IT" dirty="0" err="1" smtClean="0"/>
              <a:t>mat</a:t>
            </a:r>
            <a:r>
              <a:rPr lang="it-IT" dirty="0" smtClean="0"/>
              <a:t> per il set ottimo ottenuto in fase di addestramento. </a:t>
            </a:r>
            <a:r>
              <a:rPr lang="it-IT" b="1" dirty="0" smtClean="0"/>
              <a:t>AGLI STUDENTI È CHIESTO DI SAPER DESCRIVERE OGNI RIGA DI CODICE PRESENTATA IVI COMPRESE LE SCELTE PARAMETRICHE FATTE. </a:t>
            </a:r>
          </a:p>
          <a:p>
            <a:pPr marL="762000" lvl="1" indent="-400050" algn="just">
              <a:spcAft>
                <a:spcPts val="1200"/>
              </a:spcAft>
              <a:buAutoNum type="romanLcPeriod"/>
            </a:pPr>
            <a:r>
              <a:rPr lang="it-IT" dirty="0" smtClean="0"/>
              <a:t>Verranno fatte </a:t>
            </a:r>
            <a:r>
              <a:rPr lang="it-IT" b="1" dirty="0" smtClean="0"/>
              <a:t>TRE DOMANDE </a:t>
            </a:r>
            <a:r>
              <a:rPr lang="it-IT" dirty="0" smtClean="0"/>
              <a:t>ad ogni presentazione a cui gli studenti dovranno rispondere durante la discussione del progetto e inerenti le tematiche affrontare nel progetto stesso. </a:t>
            </a:r>
          </a:p>
          <a:p>
            <a:pPr marL="762000" lvl="1" indent="-400050" algn="just">
              <a:spcAft>
                <a:spcPts val="1200"/>
              </a:spcAft>
              <a:buAutoNum type="romanLcPeriod"/>
            </a:pPr>
            <a:r>
              <a:rPr lang="it-IT" dirty="0" smtClean="0"/>
              <a:t>Il progetto NON va consegnato al docente prima della discussione.</a:t>
            </a:r>
          </a:p>
          <a:p>
            <a:pPr marL="361950" lvl="1" algn="just">
              <a:spcAft>
                <a:spcPts val="1200"/>
              </a:spcAft>
            </a:pPr>
            <a:endParaRPr lang="it-IT" dirty="0" smtClean="0">
              <a:cs typeface="Courier New" panose="02070309020205020404" pitchFamily="49" charset="0"/>
            </a:endParaRPr>
          </a:p>
        </p:txBody>
      </p:sp>
    </p:spTree>
    <p:extLst>
      <p:ext uri="{BB962C8B-B14F-4D97-AF65-F5344CB8AC3E}">
        <p14:creationId xmlns:p14="http://schemas.microsoft.com/office/powerpoint/2010/main" val="422300413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379467B0F888C4FB271B8A3849B8408" ma:contentTypeVersion="12" ma:contentTypeDescription="Creare un nuovo documento." ma:contentTypeScope="" ma:versionID="99b546ea12ce914c1686ca1051bf4cb9">
  <xsd:schema xmlns:xsd="http://www.w3.org/2001/XMLSchema" xmlns:xs="http://www.w3.org/2001/XMLSchema" xmlns:p="http://schemas.microsoft.com/office/2006/metadata/properties" xmlns:ns2="b0874ad8-1766-4b2c-a7c6-0d127788c5d6" xmlns:ns3="ddbe606c-afb4-4823-960f-d18a33aa93ee" targetNamespace="http://schemas.microsoft.com/office/2006/metadata/properties" ma:root="true" ma:fieldsID="a767717efe8cb01bdabe613f34d5cd1d" ns2:_="" ns3:_="">
    <xsd:import namespace="b0874ad8-1766-4b2c-a7c6-0d127788c5d6"/>
    <xsd:import namespace="ddbe606c-afb4-4823-960f-d18a33aa93e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874ad8-1766-4b2c-a7c6-0d127788c5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Tag immagine" ma:readOnly="false" ma:fieldId="{5cf76f15-5ced-4ddc-b409-7134ff3c332f}" ma:taxonomyMulti="true" ma:sspId="1013fbc9-b00e-4d37-9f0b-4b76e146b30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dbe606c-afb4-4823-960f-d18a33aa93ee"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b930411-76ba-4cb2-bcd6-1e7073ac59eb}" ma:internalName="TaxCatchAll" ma:showField="CatchAllData" ma:web="ddbe606c-afb4-4823-960f-d18a33aa93e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dbe606c-afb4-4823-960f-d18a33aa93ee" xsi:nil="true"/>
    <lcf76f155ced4ddcb4097134ff3c332f xmlns="b0874ad8-1766-4b2c-a7c6-0d127788c5d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D8FD4E0-6B80-4ECB-87B5-2F5C6E5B6B38}"/>
</file>

<file path=customXml/itemProps2.xml><?xml version="1.0" encoding="utf-8"?>
<ds:datastoreItem xmlns:ds="http://schemas.openxmlformats.org/officeDocument/2006/customXml" ds:itemID="{1A886932-9BE0-4A61-9DBF-ADD278624B27}"/>
</file>

<file path=customXml/itemProps3.xml><?xml version="1.0" encoding="utf-8"?>
<ds:datastoreItem xmlns:ds="http://schemas.openxmlformats.org/officeDocument/2006/customXml" ds:itemID="{B4F4DCA8-204E-46BD-B256-C028C23B7E6D}"/>
</file>

<file path=docProps/app.xml><?xml version="1.0" encoding="utf-8"?>
<Properties xmlns="http://schemas.openxmlformats.org/officeDocument/2006/extended-properties" xmlns:vt="http://schemas.openxmlformats.org/officeDocument/2006/docPropsVTypes">
  <TotalTime>0</TotalTime>
  <Words>839</Words>
  <Application>Microsoft Office PowerPoint</Application>
  <PresentationFormat>Widescreen</PresentationFormat>
  <Paragraphs>48</Paragraphs>
  <Slides>7</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7</vt:i4>
      </vt:variant>
    </vt:vector>
  </HeadingPairs>
  <TitlesOfParts>
    <vt:vector size="12" baseType="lpstr">
      <vt:lpstr>Arial</vt:lpstr>
      <vt:lpstr>Calibri</vt:lpstr>
      <vt:lpstr>Calibri Light</vt:lpstr>
      <vt:lpstr>Courier New</vt:lpstr>
      <vt:lpstr>Tema di Office</vt:lpstr>
      <vt:lpstr>Progetto EIM2024/2025</vt:lpstr>
      <vt:lpstr>Articolazione del progetto -  STEP 1</vt:lpstr>
      <vt:lpstr>Articolazione del progetto -  STEP 2</vt:lpstr>
      <vt:lpstr>Articolazione del progetto -  STEP 3</vt:lpstr>
      <vt:lpstr>Articolazione del progetto -  STEP 4</vt:lpstr>
      <vt:lpstr>Articolazione del progetto -  STEP 5</vt:lpstr>
      <vt:lpstr>Articolazione del progetto -  STEP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Progetto EIM2023/2024</dc:title>
  <dc:creator>Arianna Mencattini</dc:creator>
  <cp:lastModifiedBy>Arianna Mencattini</cp:lastModifiedBy>
  <cp:revision>8</cp:revision>
  <dcterms:created xsi:type="dcterms:W3CDTF">2023-12-03T09:08:28Z</dcterms:created>
  <dcterms:modified xsi:type="dcterms:W3CDTF">2024-12-08T14:04:35Z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0x010100D379467B0F888C4FB271B8A3849B8408</vt:lpwstr>
  </property>
</Properties>
</file>